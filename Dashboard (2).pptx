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grandir Wide Bold" charset="1" panose="00000805000000000000"/>
      <p:regular r:id="rId23"/>
    </p:embeddedFont>
    <p:embeddedFont>
      <p:font typeface="Agrandir Wide" charset="1" panose="00000505000000000000"/>
      <p:regular r:id="rId24"/>
    </p:embeddedFont>
    <p:embeddedFont>
      <p:font typeface="TT Firs Neue Bold" charset="1" panose="02000803030000020004"/>
      <p:regular r:id="rId25"/>
    </p:embeddedFont>
    <p:embeddedFont>
      <p:font typeface="TT Firs Neue" charset="1" panose="0200050303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9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65917" y="-4566417"/>
            <a:ext cx="19419834" cy="19419834"/>
          </a:xfrm>
          <a:custGeom>
            <a:avLst/>
            <a:gdLst/>
            <a:ahLst/>
            <a:cxnLst/>
            <a:rect r="r" b="b" t="t" l="l"/>
            <a:pathLst>
              <a:path h="19419834" w="19419834">
                <a:moveTo>
                  <a:pt x="0" y="0"/>
                </a:moveTo>
                <a:lnTo>
                  <a:pt x="19419834" y="0"/>
                </a:lnTo>
                <a:lnTo>
                  <a:pt x="19419834" y="19419834"/>
                </a:lnTo>
                <a:lnTo>
                  <a:pt x="0" y="19419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7490" y="8299714"/>
            <a:ext cx="3834344" cy="1123053"/>
            <a:chOff x="0" y="0"/>
            <a:chExt cx="5112459" cy="14974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24956" y="865411"/>
            <a:ext cx="3834344" cy="1123053"/>
            <a:chOff x="0" y="0"/>
            <a:chExt cx="5112459" cy="14974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313353" y="3313589"/>
            <a:ext cx="9047226" cy="107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74"/>
              </a:lnSpc>
              <a:spcBef>
                <a:spcPct val="0"/>
              </a:spcBef>
            </a:pPr>
            <a:r>
              <a:rPr lang="en-US" b="true" sz="639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DYNAMIC PRICING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93357" y="3993178"/>
            <a:ext cx="14067223" cy="239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220"/>
              </a:lnSpc>
            </a:pPr>
            <a:r>
              <a:rPr lang="en-US" b="true" sz="14358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63169" y="6092521"/>
            <a:ext cx="13597410" cy="53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60"/>
              </a:lnSpc>
              <a:spcBef>
                <a:spcPct val="0"/>
              </a:spcBef>
            </a:pPr>
            <a:r>
              <a:rPr lang="en-US" sz="3264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FRONT-END ENGINEERING &amp; FRAMEWORK DESIGN 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21654" y="8603243"/>
            <a:ext cx="943570" cy="45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17"/>
              </a:lnSpc>
            </a:pPr>
            <a:r>
              <a:rPr lang="en-US" b="true" sz="2782">
                <a:solidFill>
                  <a:srgbClr val="1E4338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2027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40405"/>
            <a:ext cx="4060957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ABSTRACT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3322221"/>
            <a:ext cx="17259300" cy="368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HE DYNAMIC PRICING DASHBOARD IS A WEB-BASED APPLICATION THAT AUTOMATICALLY ADJUSTS PRODUCT PRICES BASED ON FACTORS SUCH AS DEMAND, STOCK AVAILABILITY, AND MARKET TRENDS. THE SYSTEM PROVIDES REAL-TIME PRICE RECOMMENDATIONS AND VISUAL ANALYTICS THROUGH AN INTERACTIVE DASHBOARD. BUILT USING REACT, JAVASCRIPT, HTML, CSS, AND LOCAL STORAGE, THE PROJECT DEMONSTRATES MODERN FRONT-END ENGINEERING CONCEPTS WHILE IMPROVING PRICING EFFICIENCY AND BUSINESS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7394" y="1104900"/>
            <a:ext cx="8466931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PROB</a:t>
            </a: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LEM STATEMENT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337687" y="3093621"/>
            <a:ext cx="15921613" cy="413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TRADITIONAL PRICING METHODS RELY HEAVILY ON MANUAL DECISIONS, LEADING TO: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REVENUE LOSS DUE TO INCORRECT PRICING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SLOW RESPONSE TO MARKET CHANGES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INVENTORY MANAGEMENT ISSUES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LACK OF REAL-TIME ANALYTICS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DIFFICULTY IN TRACKING PRICING HISTORY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 DYNAMIC PRICING SOLUTION IS NEEDED TO AUTOMATE PRICING DECISIONS AND IMPROVE BUSINESS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04900"/>
            <a:ext cx="4743715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OBJEC</a:t>
            </a: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0323" y="2379156"/>
            <a:ext cx="7454348" cy="586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446" indent="-320223" lvl="1">
              <a:lnSpc>
                <a:spcPts val="3144"/>
              </a:lnSpc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PRIMARY OBJECTIVES</a:t>
            </a:r>
          </a:p>
          <a:p>
            <a:pPr algn="l" marL="640446" indent="-320223" lvl="1">
              <a:lnSpc>
                <a:spcPts val="3144"/>
              </a:lnSpc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DEVEL</a:t>
            </a: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OP A RESPONSIVE PRICING DASHBOARD</a:t>
            </a:r>
          </a:p>
          <a:p>
            <a:pPr algn="l" marL="640446" indent="-320223" lvl="1">
              <a:lnSpc>
                <a:spcPts val="3144"/>
              </a:lnSpc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IMPLEMENT DYNAMIC PRICING ALGORITHMS</a:t>
            </a:r>
          </a:p>
          <a:p>
            <a:pPr algn="l" marL="640446" indent="-320223" lvl="1">
              <a:lnSpc>
                <a:spcPts val="3144"/>
              </a:lnSpc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STORE AND MANAGE PRODUCT DATA USING LOCAL STORAGE</a:t>
            </a:r>
          </a:p>
          <a:p>
            <a:pPr algn="l" marL="640446" indent="-320223" lvl="1">
              <a:lnSpc>
                <a:spcPts val="3144"/>
              </a:lnSpc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VISUALIZE PRICING TRENDS AND ANALYTICS</a:t>
            </a:r>
          </a:p>
          <a:p>
            <a:pPr algn="l" marL="640446" indent="-320223" lvl="1">
              <a:lnSpc>
                <a:spcPts val="3144"/>
              </a:lnSpc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IMPROVE USER EXPERIENCE THROUGH REACT COMPONENTS</a:t>
            </a:r>
          </a:p>
          <a:p>
            <a:pPr algn="l" marL="640446" indent="-320223" lvl="1">
              <a:lnSpc>
                <a:spcPts val="3144"/>
              </a:lnSpc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EXPECTED OUTCOMES</a:t>
            </a:r>
          </a:p>
          <a:p>
            <a:pPr algn="l" marL="640446" indent="-320223" lvl="1">
              <a:lnSpc>
                <a:spcPts val="3144"/>
              </a:lnSpc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BETTER PRICING DECISIONS</a:t>
            </a:r>
          </a:p>
          <a:p>
            <a:pPr algn="l" marL="640446" indent="-320223" lvl="1">
              <a:lnSpc>
                <a:spcPts val="3144"/>
              </a:lnSpc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IMPROVED INVENTORY CONTROL</a:t>
            </a:r>
          </a:p>
          <a:p>
            <a:pPr algn="l" marL="640446" indent="-320223" lvl="1">
              <a:lnSpc>
                <a:spcPts val="3144"/>
              </a:lnSpc>
              <a:spcBef>
                <a:spcPct val="0"/>
              </a:spcBef>
              <a:buFont typeface="Arial"/>
              <a:buChar char="•"/>
            </a:pPr>
            <a:r>
              <a:rPr lang="en-US" sz="296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ENHANCED BUSINESS ANALYTICS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50127" y="2064184"/>
            <a:ext cx="9002570" cy="759123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00323" y="8696773"/>
            <a:ext cx="3834344" cy="1123053"/>
            <a:chOff x="0" y="0"/>
            <a:chExt cx="5112459" cy="1497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1668" y="2561737"/>
            <a:ext cx="7179262" cy="557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629" indent="-371315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US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ER INTERFACE (REACT)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     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↓</a:t>
            </a:r>
          </a:p>
          <a:p>
            <a:pPr algn="l" marL="742629" indent="-371315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PRODUCT MANAGEMENT MODULE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     ↓</a:t>
            </a:r>
          </a:p>
          <a:p>
            <a:pPr algn="l" marL="742629" indent="-371315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PRICING ENGINE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     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↓</a:t>
            </a:r>
          </a:p>
          <a:p>
            <a:pPr algn="l" marL="742629" indent="-371315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LOCAL STORAGE DATABASE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     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↓</a:t>
            </a:r>
          </a:p>
          <a:p>
            <a:pPr algn="l" marL="742629" indent="-371315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ANALYTICS DASHBOARD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     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↓</a:t>
            </a:r>
          </a:p>
          <a:p>
            <a:pPr algn="l" marL="742629" indent="-371315" lvl="1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REPORTS &amp; VISUALIZATIONS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62809" y="8696773"/>
            <a:ext cx="3834344" cy="1123053"/>
            <a:chOff x="0" y="0"/>
            <a:chExt cx="5112459" cy="14974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780930" y="2768551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90" y="0"/>
                </a:lnTo>
                <a:lnTo>
                  <a:pt x="10075290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62809" y="229409"/>
            <a:ext cx="6847480" cy="152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SYSTEM ARCHITECTU</a:t>
            </a: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04900"/>
            <a:ext cx="6254706" cy="152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MODULE DESCRIPTION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79221" y="1906539"/>
            <a:ext cx="9177352" cy="7763441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88842" y="3851568"/>
            <a:ext cx="8398920" cy="392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367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1. USER MANAGEMENT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367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LOGIN AND AUTHENTICATION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367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USER PROFILE MANAGEMENT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367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2. PRODUCT MANAGEMENT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367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ADD PRODUCTS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367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UPDATE PRODUCTS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367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DELETE PRODUCTS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45368" y="2606155"/>
            <a:ext cx="5543900" cy="5074690"/>
          </a:xfrm>
          <a:custGeom>
            <a:avLst/>
            <a:gdLst/>
            <a:ahLst/>
            <a:cxnLst/>
            <a:rect r="r" b="b" t="t" l="l"/>
            <a:pathLst>
              <a:path h="5074690" w="5543900">
                <a:moveTo>
                  <a:pt x="0" y="0"/>
                </a:moveTo>
                <a:lnTo>
                  <a:pt x="5543900" y="0"/>
                </a:lnTo>
                <a:lnTo>
                  <a:pt x="5543900" y="5074690"/>
                </a:lnTo>
                <a:lnTo>
                  <a:pt x="0" y="507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403905" y="2208903"/>
            <a:ext cx="7988432" cy="505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1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3. PRICING ENGINE</a:t>
            </a:r>
          </a:p>
          <a:p>
            <a:pPr algn="just">
              <a:lnSpc>
                <a:spcPts val="4981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DEMAND-BASED PRICING</a:t>
            </a:r>
          </a:p>
          <a:p>
            <a:pPr algn="just">
              <a:lnSpc>
                <a:spcPts val="4981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STOCK-BASED PRICING</a:t>
            </a:r>
          </a:p>
          <a:p>
            <a:pPr algn="just">
              <a:lnSpc>
                <a:spcPts val="4981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PRICE ADJUSTMENT RULES</a:t>
            </a:r>
          </a:p>
          <a:p>
            <a:pPr algn="just">
              <a:lnSpc>
                <a:spcPts val="4981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4. ANALYTICS MODULE</a:t>
            </a:r>
          </a:p>
          <a:p>
            <a:pPr algn="just">
              <a:lnSpc>
                <a:spcPts val="4981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REVENUE ANALYSIS</a:t>
            </a:r>
          </a:p>
          <a:p>
            <a:pPr algn="just">
              <a:lnSpc>
                <a:spcPts val="4981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PRICING TRENDS</a:t>
            </a:r>
          </a:p>
          <a:p>
            <a:pPr algn="just">
              <a:lnSpc>
                <a:spcPts val="4981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PERFORMANCE REPORTS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16604" y="3189676"/>
            <a:ext cx="5201429" cy="5377418"/>
          </a:xfrm>
          <a:custGeom>
            <a:avLst/>
            <a:gdLst/>
            <a:ahLst/>
            <a:cxnLst/>
            <a:rect r="r" b="b" t="t" l="l"/>
            <a:pathLst>
              <a:path h="5377418" w="5201429">
                <a:moveTo>
                  <a:pt x="0" y="0"/>
                </a:moveTo>
                <a:lnTo>
                  <a:pt x="5201429" y="0"/>
                </a:lnTo>
                <a:lnTo>
                  <a:pt x="5201429" y="5377417"/>
                </a:lnTo>
                <a:lnTo>
                  <a:pt x="0" y="5377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4732" y="1104900"/>
            <a:ext cx="6254706" cy="152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TECHNOLOGIES</a:t>
            </a: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USED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9290" y="2780478"/>
            <a:ext cx="7100358" cy="525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6"/>
              </a:lnSpc>
              <a:spcBef>
                <a:spcPct val="0"/>
              </a:spcBef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FRONT-END:</a:t>
            </a:r>
          </a:p>
          <a:p>
            <a:pPr algn="just" marL="777251" indent="-388626" lvl="1">
              <a:lnSpc>
                <a:spcPts val="3816"/>
              </a:lnSpc>
              <a:buFont typeface="Arial"/>
              <a:buChar char="•"/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REACT JS</a:t>
            </a:r>
          </a:p>
          <a:p>
            <a:pPr algn="just" marL="777251" indent="-388626" lvl="1">
              <a:lnSpc>
                <a:spcPts val="3816"/>
              </a:lnSpc>
              <a:buFont typeface="Arial"/>
              <a:buChar char="•"/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HTML5</a:t>
            </a:r>
          </a:p>
          <a:p>
            <a:pPr algn="just" marL="777251" indent="-388626" lvl="1">
              <a:lnSpc>
                <a:spcPts val="3816"/>
              </a:lnSpc>
              <a:buFont typeface="Arial"/>
              <a:buChar char="•"/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CSS3</a:t>
            </a:r>
          </a:p>
          <a:p>
            <a:pPr algn="just" marL="777251" indent="-388626" lvl="1">
              <a:lnSpc>
                <a:spcPts val="3816"/>
              </a:lnSpc>
              <a:buFont typeface="Arial"/>
              <a:buChar char="•"/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JAVASCRIPT ES6</a:t>
            </a:r>
          </a:p>
          <a:p>
            <a:pPr algn="just">
              <a:lnSpc>
                <a:spcPts val="3816"/>
              </a:lnSpc>
              <a:spcBef>
                <a:spcPct val="0"/>
              </a:spcBef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DATA STORAGE:</a:t>
            </a:r>
          </a:p>
          <a:p>
            <a:pPr algn="just" marL="777251" indent="-388626" lvl="1">
              <a:lnSpc>
                <a:spcPts val="3816"/>
              </a:lnSpc>
              <a:buFont typeface="Arial"/>
              <a:buChar char="•"/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BROWSER LOCAL STORAGE</a:t>
            </a:r>
          </a:p>
          <a:p>
            <a:pPr algn="just">
              <a:lnSpc>
                <a:spcPts val="3816"/>
              </a:lnSpc>
              <a:spcBef>
                <a:spcPct val="0"/>
              </a:spcBef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DEVELOPMENT TOOLS</a:t>
            </a:r>
          </a:p>
          <a:p>
            <a:pPr algn="just" marL="777251" indent="-388626" lvl="1">
              <a:lnSpc>
                <a:spcPts val="3816"/>
              </a:lnSpc>
              <a:buFont typeface="Arial"/>
              <a:buChar char="•"/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VS CODE</a:t>
            </a:r>
          </a:p>
          <a:p>
            <a:pPr algn="just" marL="777251" indent="-388626" lvl="1">
              <a:lnSpc>
                <a:spcPts val="3816"/>
              </a:lnSpc>
              <a:buFont typeface="Arial"/>
              <a:buChar char="•"/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VITE</a:t>
            </a:r>
          </a:p>
          <a:p>
            <a:pPr algn="just">
              <a:lnSpc>
                <a:spcPts val="3816"/>
              </a:lnSpc>
              <a:spcBef>
                <a:spcPct val="0"/>
              </a:spcBef>
            </a:pP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GIT &amp; GITHUB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04504" y="2789372"/>
            <a:ext cx="5683496" cy="6046272"/>
          </a:xfrm>
          <a:custGeom>
            <a:avLst/>
            <a:gdLst/>
            <a:ahLst/>
            <a:cxnLst/>
            <a:rect r="r" b="b" t="t" l="l"/>
            <a:pathLst>
              <a:path h="6046272" w="5683496">
                <a:moveTo>
                  <a:pt x="0" y="0"/>
                </a:moveTo>
                <a:lnTo>
                  <a:pt x="5683496" y="0"/>
                </a:lnTo>
                <a:lnTo>
                  <a:pt x="5683496" y="6046272"/>
                </a:lnTo>
                <a:lnTo>
                  <a:pt x="0" y="6046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8167" y="865411"/>
            <a:ext cx="672765" cy="1013755"/>
          </a:xfrm>
          <a:custGeom>
            <a:avLst/>
            <a:gdLst/>
            <a:ahLst/>
            <a:cxnLst/>
            <a:rect r="r" b="b" t="t" l="l"/>
            <a:pathLst>
              <a:path h="1013755" w="672765">
                <a:moveTo>
                  <a:pt x="0" y="0"/>
                </a:moveTo>
                <a:lnTo>
                  <a:pt x="672765" y="0"/>
                </a:lnTo>
                <a:lnTo>
                  <a:pt x="672765" y="1013755"/>
                </a:lnTo>
                <a:lnTo>
                  <a:pt x="0" y="1013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35588" y="1027121"/>
            <a:ext cx="3465293" cy="69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7"/>
              </a:lnSpc>
            </a:pPr>
            <a:r>
              <a:rPr lang="en-US" b="true" sz="2554">
                <a:solidFill>
                  <a:srgbClr val="1E4338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THYNK</a:t>
            </a:r>
          </a:p>
          <a:p>
            <a:pPr algn="just">
              <a:lnSpc>
                <a:spcPts val="2707"/>
              </a:lnSpc>
            </a:pPr>
            <a:r>
              <a:rPr lang="en-US" b="true" sz="2554">
                <a:solidFill>
                  <a:srgbClr val="1E4338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UNLIMITED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2518350" y="2439550"/>
            <a:ext cx="9469702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1E4338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FUTURE ENHANCEMENTS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3272543"/>
            <a:ext cx="11929533" cy="451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8" indent="-453394" lvl="1">
              <a:lnSpc>
                <a:spcPts val="4452"/>
              </a:lnSpc>
              <a:buFont typeface="Arial"/>
              <a:buChar char="•"/>
            </a:pPr>
            <a:r>
              <a:rPr lang="en-US" sz="4200">
                <a:solidFill>
                  <a:srgbClr val="1E4338"/>
                </a:solidFill>
                <a:latin typeface="TT Firs Neue"/>
                <a:ea typeface="TT Firs Neue"/>
                <a:cs typeface="TT Firs Neue"/>
                <a:sym typeface="TT Firs Neue"/>
              </a:rPr>
              <a:t>FUTURE SCOPE</a:t>
            </a:r>
          </a:p>
          <a:p>
            <a:pPr algn="l" marL="906788" indent="-453394" lvl="1">
              <a:lnSpc>
                <a:spcPts val="4452"/>
              </a:lnSpc>
              <a:buFont typeface="Arial"/>
              <a:buChar char="•"/>
            </a:pPr>
            <a:r>
              <a:rPr lang="en-US" sz="4200">
                <a:solidFill>
                  <a:srgbClr val="1E4338"/>
                </a:solidFill>
                <a:latin typeface="TT Firs Neue"/>
                <a:ea typeface="TT Firs Neue"/>
                <a:cs typeface="TT Firs Neue"/>
                <a:sym typeface="TT Firs Neue"/>
              </a:rPr>
              <a:t>BACKEND INTEGRATION USING NODE.JS</a:t>
            </a:r>
          </a:p>
          <a:p>
            <a:pPr algn="l" marL="906788" indent="-453394" lvl="1">
              <a:lnSpc>
                <a:spcPts val="4452"/>
              </a:lnSpc>
              <a:buFont typeface="Arial"/>
              <a:buChar char="•"/>
            </a:pPr>
            <a:r>
              <a:rPr lang="en-US" sz="4200">
                <a:solidFill>
                  <a:srgbClr val="1E4338"/>
                </a:solidFill>
                <a:latin typeface="TT Firs Neue"/>
                <a:ea typeface="TT Firs Neue"/>
                <a:cs typeface="TT Firs Neue"/>
                <a:sym typeface="TT Firs Neue"/>
              </a:rPr>
              <a:t>DATABASE SUPPORT (MONGODB/MYSQL)</a:t>
            </a:r>
          </a:p>
          <a:p>
            <a:pPr algn="l" marL="906788" indent="-453394" lvl="1">
              <a:lnSpc>
                <a:spcPts val="4452"/>
              </a:lnSpc>
              <a:buFont typeface="Arial"/>
              <a:buChar char="•"/>
            </a:pPr>
            <a:r>
              <a:rPr lang="en-US" sz="4200">
                <a:solidFill>
                  <a:srgbClr val="1E4338"/>
                </a:solidFill>
                <a:latin typeface="TT Firs Neue"/>
                <a:ea typeface="TT Firs Neue"/>
                <a:cs typeface="TT Firs Neue"/>
                <a:sym typeface="TT Firs Neue"/>
              </a:rPr>
              <a:t>AI-BASED PRICE PREDICTION</a:t>
            </a:r>
          </a:p>
          <a:p>
            <a:pPr algn="l" marL="906788" indent="-453394" lvl="1">
              <a:lnSpc>
                <a:spcPts val="4452"/>
              </a:lnSpc>
              <a:buFont typeface="Arial"/>
              <a:buChar char="•"/>
            </a:pPr>
            <a:r>
              <a:rPr lang="en-US" sz="4200">
                <a:solidFill>
                  <a:srgbClr val="1E4338"/>
                </a:solidFill>
                <a:latin typeface="TT Firs Neue"/>
                <a:ea typeface="TT Firs Neue"/>
                <a:cs typeface="TT Firs Neue"/>
                <a:sym typeface="TT Firs Neue"/>
              </a:rPr>
              <a:t>REAL-TIME MARKET API INTEGRATION</a:t>
            </a:r>
          </a:p>
          <a:p>
            <a:pPr algn="l" marL="906788" indent="-453394" lvl="1">
              <a:lnSpc>
                <a:spcPts val="4452"/>
              </a:lnSpc>
              <a:buFont typeface="Arial"/>
              <a:buChar char="•"/>
            </a:pPr>
            <a:r>
              <a:rPr lang="en-US" sz="4200">
                <a:solidFill>
                  <a:srgbClr val="1E4338"/>
                </a:solidFill>
                <a:latin typeface="TT Firs Neue"/>
                <a:ea typeface="TT Firs Neue"/>
                <a:cs typeface="TT Firs Neue"/>
                <a:sym typeface="TT Firs Neue"/>
              </a:rPr>
              <a:t>USER ROLE MANAGEMENT</a:t>
            </a:r>
          </a:p>
          <a:p>
            <a:pPr algn="l" marL="906788" indent="-453394" lvl="1">
              <a:lnSpc>
                <a:spcPts val="4452"/>
              </a:lnSpc>
              <a:buFont typeface="Arial"/>
              <a:buChar char="•"/>
            </a:pPr>
            <a:r>
              <a:rPr lang="en-US" sz="4200">
                <a:solidFill>
                  <a:srgbClr val="1E4338"/>
                </a:solidFill>
                <a:latin typeface="TT Firs Neue"/>
                <a:ea typeface="TT Firs Neue"/>
                <a:cs typeface="TT Firs Neue"/>
                <a:sym typeface="TT Firs Neue"/>
              </a:rPr>
              <a:t>CLOUD DEPLOYMENT</a:t>
            </a:r>
          </a:p>
          <a:p>
            <a:pPr algn="l" marL="906788" indent="-453394" lvl="1">
              <a:lnSpc>
                <a:spcPts val="4452"/>
              </a:lnSpc>
              <a:buFont typeface="Arial"/>
              <a:buChar char="•"/>
            </a:pPr>
            <a:r>
              <a:rPr lang="en-US" sz="4200">
                <a:solidFill>
                  <a:srgbClr val="1E4338"/>
                </a:solidFill>
                <a:latin typeface="TT Firs Neue"/>
                <a:ea typeface="TT Firs Neue"/>
                <a:cs typeface="TT Firs Neue"/>
                <a:sym typeface="TT Firs Neue"/>
              </a:rPr>
              <a:t>ADVANCED ANALYTICS DASHBOARD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8050" y="2934775"/>
            <a:ext cx="4653812" cy="5924993"/>
          </a:xfrm>
          <a:custGeom>
            <a:avLst/>
            <a:gdLst/>
            <a:ahLst/>
            <a:cxnLst/>
            <a:rect r="r" b="b" t="t" l="l"/>
            <a:pathLst>
              <a:path h="5924993" w="4653812">
                <a:moveTo>
                  <a:pt x="0" y="0"/>
                </a:moveTo>
                <a:lnTo>
                  <a:pt x="4653812" y="0"/>
                </a:lnTo>
                <a:lnTo>
                  <a:pt x="4653812" y="5924993"/>
                </a:lnTo>
                <a:lnTo>
                  <a:pt x="0" y="5924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4732" y="864168"/>
            <a:ext cx="6254706" cy="152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CO1 CONCEPTS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050" y="2972875"/>
            <a:ext cx="11098050" cy="522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CONCEPTS APPLIED: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COMPON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ENT-DRIVEN ARCHITECTURE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VIRTUAL DOM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UNIDIRECTIONAL DATA FLOW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REUSABLE REACT COMPONENTS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RESPONSIVE UI DESIGN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 IMPLEMENTA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TION:</a:t>
            </a:r>
          </a:p>
          <a:p>
            <a:pPr algn="l" marL="742629" indent="-371314" lvl="1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THE DASHBOARD IS DIVIDED INTO INDEPENDENT REACT COMPONENTS SUCH AS PRODUCT LIST, ANALYTICS PANEL, PRICING MODULE, AND DASHBOARD CARDS.</a:t>
            </a:r>
          </a:p>
          <a:p>
            <a:pPr algn="l" marL="310841" indent="-155420" lvl="1">
              <a:lnSpc>
                <a:spcPts val="1526"/>
              </a:lnSpc>
              <a:spcBef>
                <a:spcPct val="0"/>
              </a:spcBef>
              <a:buFont typeface="Arial"/>
              <a:buChar char="•"/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8050" y="2934775"/>
            <a:ext cx="4653812" cy="5924993"/>
          </a:xfrm>
          <a:custGeom>
            <a:avLst/>
            <a:gdLst/>
            <a:ahLst/>
            <a:cxnLst/>
            <a:rect r="r" b="b" t="t" l="l"/>
            <a:pathLst>
              <a:path h="5924993" w="4653812">
                <a:moveTo>
                  <a:pt x="0" y="0"/>
                </a:moveTo>
                <a:lnTo>
                  <a:pt x="4653812" y="0"/>
                </a:lnTo>
                <a:lnTo>
                  <a:pt x="4653812" y="5924993"/>
                </a:lnTo>
                <a:lnTo>
                  <a:pt x="0" y="5924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5207" y="864168"/>
            <a:ext cx="9037644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90"/>
              </a:lnSpc>
              <a:spcBef>
                <a:spcPct val="0"/>
              </a:spcBef>
            </a:pPr>
            <a:r>
              <a:rPr lang="en-US" b="true" sz="5368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CO2 CONCEPTS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050" y="2972875"/>
            <a:ext cx="11098050" cy="522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JAVASCRIPT &amp; TYPESCRIPT ENGINEERING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CONCEPTS APPLIED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ES6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 FEATURES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AR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ROW FUNCTIONS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CLOSURES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SYNC PROGRAMMING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MODULAR JAVASCRIPT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IMPLEMENTA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TION</a:t>
            </a:r>
          </a:p>
          <a:p>
            <a:pPr algn="l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J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AVASCRIPT HANDLES DYNAMIC PRICING CALCULATIONS, EVENT HANDLING, DATA UPDATES, AND LOCAL STORAGE OPERATIONS.</a:t>
            </a:r>
          </a:p>
          <a:p>
            <a:pPr algn="l" marL="310841" indent="-155420" lvl="1">
              <a:lnSpc>
                <a:spcPts val="1526"/>
              </a:lnSpc>
              <a:spcBef>
                <a:spcPct val="0"/>
              </a:spcBef>
              <a:buFont typeface="Arial"/>
              <a:buChar char="•"/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8050" y="2934775"/>
            <a:ext cx="4653812" cy="5924993"/>
          </a:xfrm>
          <a:custGeom>
            <a:avLst/>
            <a:gdLst/>
            <a:ahLst/>
            <a:cxnLst/>
            <a:rect r="r" b="b" t="t" l="l"/>
            <a:pathLst>
              <a:path h="5924993" w="4653812">
                <a:moveTo>
                  <a:pt x="0" y="0"/>
                </a:moveTo>
                <a:lnTo>
                  <a:pt x="4653812" y="0"/>
                </a:lnTo>
                <a:lnTo>
                  <a:pt x="4653812" y="5924993"/>
                </a:lnTo>
                <a:lnTo>
                  <a:pt x="0" y="5924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5207" y="864168"/>
            <a:ext cx="9037644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90"/>
              </a:lnSpc>
              <a:spcBef>
                <a:spcPct val="0"/>
              </a:spcBef>
            </a:pPr>
            <a:r>
              <a:rPr lang="en-US" b="true" sz="5368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CO3 CONCEPTS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050" y="2972875"/>
            <a:ext cx="11098050" cy="522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REACT COMPONENT MODEL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CONCEPTS APPLIED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PROPS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ST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ATE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H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OOKS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COMPONENT COMPOSITION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CONTROLLED COMPONENTS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IMPLEMENTA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TION</a:t>
            </a:r>
          </a:p>
          <a:p>
            <a:pPr algn="l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ACT STATE MANAGES PRODUCT INFORMATION AND PRICING UPDATES WHILE HOOKS SIMPLIFY STATE MANAGEMENT.</a:t>
            </a:r>
          </a:p>
          <a:p>
            <a:pPr algn="l" marL="310841" indent="-155420" lvl="1">
              <a:lnSpc>
                <a:spcPts val="1526"/>
              </a:lnSpc>
              <a:spcBef>
                <a:spcPct val="0"/>
              </a:spcBef>
              <a:buFont typeface="Arial"/>
              <a:buChar char="•"/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8050" y="2934775"/>
            <a:ext cx="4653812" cy="5924993"/>
          </a:xfrm>
          <a:custGeom>
            <a:avLst/>
            <a:gdLst/>
            <a:ahLst/>
            <a:cxnLst/>
            <a:rect r="r" b="b" t="t" l="l"/>
            <a:pathLst>
              <a:path h="5924993" w="4653812">
                <a:moveTo>
                  <a:pt x="0" y="0"/>
                </a:moveTo>
                <a:lnTo>
                  <a:pt x="4653812" y="0"/>
                </a:lnTo>
                <a:lnTo>
                  <a:pt x="4653812" y="5924993"/>
                </a:lnTo>
                <a:lnTo>
                  <a:pt x="0" y="5924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5207" y="864168"/>
            <a:ext cx="9037644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90"/>
              </a:lnSpc>
              <a:spcBef>
                <a:spcPct val="0"/>
              </a:spcBef>
            </a:pPr>
            <a:r>
              <a:rPr lang="en-US" b="true" sz="5368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CO4 CONCEPTS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050" y="2972875"/>
            <a:ext cx="11098050" cy="522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STATE ARCHITECTURE &amp; API INTEGRATION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CONCEPTS APPLIED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ST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ATE LIFTING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CONTEXT MANAGEMENT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DERIVED STATE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DATA PERSISTENCE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ASYNC FLOW CONTROL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IMPLEMENTA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TION</a:t>
            </a:r>
          </a:p>
          <a:p>
            <a:pPr algn="l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LOC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AL STORAGE IS USED TO MAINTAIN PRODUCT DATA, ENSURING PERSISTENCE EVEN AFTER PAGE REFRESH.</a:t>
            </a:r>
          </a:p>
          <a:p>
            <a:pPr algn="l" marL="310841" indent="-155420" lvl="1">
              <a:lnSpc>
                <a:spcPts val="1526"/>
              </a:lnSpc>
              <a:spcBef>
                <a:spcPct val="0"/>
              </a:spcBef>
              <a:buFont typeface="Arial"/>
              <a:buChar char="•"/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8050" y="2934775"/>
            <a:ext cx="4653812" cy="5924993"/>
          </a:xfrm>
          <a:custGeom>
            <a:avLst/>
            <a:gdLst/>
            <a:ahLst/>
            <a:cxnLst/>
            <a:rect r="r" b="b" t="t" l="l"/>
            <a:pathLst>
              <a:path h="5924993" w="4653812">
                <a:moveTo>
                  <a:pt x="0" y="0"/>
                </a:moveTo>
                <a:lnTo>
                  <a:pt x="4653812" y="0"/>
                </a:lnTo>
                <a:lnTo>
                  <a:pt x="4653812" y="5924993"/>
                </a:lnTo>
                <a:lnTo>
                  <a:pt x="0" y="5924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5207" y="864168"/>
            <a:ext cx="9037644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90"/>
              </a:lnSpc>
              <a:spcBef>
                <a:spcPct val="0"/>
              </a:spcBef>
            </a:pPr>
            <a:r>
              <a:rPr lang="en-US" b="true" sz="5368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CO5 CONCEPTS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050" y="2972875"/>
            <a:ext cx="11098050" cy="522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ROUTING, FORMS, ACCESSIBILITY &amp; PERFORMANCE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CONCEPTS APPLIED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FORM V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ALIDATION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ACC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ESSIBILITY STANDARDS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K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EYBOARD NAVIGATION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RESPONSIVE FORMS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PERFORMANCE OPTIMIZATION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IMPLEMENTA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TION</a:t>
            </a:r>
          </a:p>
          <a:p>
            <a:pPr algn="l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INPUT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 FORMS VALIDATE PRODUCT DETAILS BEFORE UPDATING PRICING INFORMATION.</a:t>
            </a:r>
          </a:p>
          <a:p>
            <a:pPr algn="l" marL="310841" indent="-155420" lvl="1">
              <a:lnSpc>
                <a:spcPts val="1526"/>
              </a:lnSpc>
              <a:spcBef>
                <a:spcPct val="0"/>
              </a:spcBef>
              <a:buFont typeface="Arial"/>
              <a:buChar char="•"/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8050" y="2934775"/>
            <a:ext cx="4653812" cy="5924993"/>
          </a:xfrm>
          <a:custGeom>
            <a:avLst/>
            <a:gdLst/>
            <a:ahLst/>
            <a:cxnLst/>
            <a:rect r="r" b="b" t="t" l="l"/>
            <a:pathLst>
              <a:path h="5924993" w="4653812">
                <a:moveTo>
                  <a:pt x="0" y="0"/>
                </a:moveTo>
                <a:lnTo>
                  <a:pt x="4653812" y="0"/>
                </a:lnTo>
                <a:lnTo>
                  <a:pt x="4653812" y="5924993"/>
                </a:lnTo>
                <a:lnTo>
                  <a:pt x="0" y="5924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5207" y="864168"/>
            <a:ext cx="9037644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90"/>
              </a:lnSpc>
              <a:spcBef>
                <a:spcPct val="0"/>
              </a:spcBef>
            </a:pPr>
            <a:r>
              <a:rPr lang="en-US" b="true" sz="5368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CO6 CONCEPTS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050" y="2972875"/>
            <a:ext cx="11098050" cy="522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BUILD SYSTEMS, TESTING &amp; DEPLOYMENT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CONCEPTS APPLIED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V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ITE BUILD TOOL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PROJ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ECT STRUCTURE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CODE OPTIMIZATION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ESLINT STANDARDS</a:t>
            </a:r>
          </a:p>
          <a:p>
            <a:pPr algn="l" marL="742629" indent="-371314" lvl="1">
              <a:lnSpc>
                <a:spcPts val="3646"/>
              </a:lnSpc>
              <a:buFont typeface="Arial"/>
              <a:buChar char="•"/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DEPLOYMENT READINESS</a:t>
            </a:r>
          </a:p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IMPLEMENTA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TION</a:t>
            </a:r>
          </a:p>
          <a:p>
            <a:pPr algn="l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THE PROJECT</a:t>
            </a: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 FOLLOWS MODULAR FOLDER STRUCTURES AND OPTIMIZED REACT DEVELOPMENT PRACTICES.</a:t>
            </a:r>
          </a:p>
          <a:p>
            <a:pPr algn="l" marL="310841" indent="-155420" lvl="1">
              <a:lnSpc>
                <a:spcPts val="1526"/>
              </a:lnSpc>
              <a:spcBef>
                <a:spcPct val="0"/>
              </a:spcBef>
              <a:buFont typeface="Arial"/>
              <a:buChar char="•"/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3E6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0375" y="1104900"/>
            <a:ext cx="5119952" cy="73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0"/>
              </a:lnSpc>
              <a:spcBef>
                <a:spcPct val="0"/>
              </a:spcBef>
            </a:pPr>
            <a:r>
              <a:rPr lang="en-US" b="true" sz="5368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CONCLUSION: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252246"/>
            <a:ext cx="18288000" cy="520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1070" indent="-525535" lvl="1">
              <a:lnSpc>
                <a:spcPts val="5160"/>
              </a:lnSpc>
              <a:buFont typeface="Arial"/>
              <a:buChar char="•"/>
            </a:pPr>
            <a:r>
              <a:rPr lang="en-US" sz="486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Dynamic Pricing Dashboard successfully demonstrates the practical implementation of modern Front-End Engineering concepts. The project integrates React architecture, state management, dynamic pricing logic, and data persistence using Local Storage. It provides an efficient, scalable, and user-friendly solution for price optimization and business analytics.</a:t>
            </a:r>
          </a:p>
          <a:p>
            <a:pPr algn="l">
              <a:lnSpc>
                <a:spcPts val="5160"/>
              </a:lnSpc>
            </a:pPr>
            <a:r>
              <a:rPr lang="en-US" sz="486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                          Thank You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24956" y="1028700"/>
            <a:ext cx="3834344" cy="1123053"/>
            <a:chOff x="0" y="0"/>
            <a:chExt cx="5112459" cy="14974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8135247"/>
            <a:ext cx="3834344" cy="1123053"/>
            <a:chOff x="0" y="0"/>
            <a:chExt cx="5112459" cy="14974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56229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-2700000">
              <a:off x="1278115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-2700000">
              <a:off x="3834344" y="219290"/>
              <a:ext cx="1058825" cy="1058825"/>
            </a:xfrm>
            <a:custGeom>
              <a:avLst/>
              <a:gdLst/>
              <a:ahLst/>
              <a:cxnLst/>
              <a:rect r="r" b="b" t="t" l="l"/>
              <a:pathLst>
                <a:path h="1058825" w="1058825">
                  <a:moveTo>
                    <a:pt x="0" y="0"/>
                  </a:moveTo>
                  <a:lnTo>
                    <a:pt x="1058825" y="0"/>
                  </a:lnTo>
                  <a:lnTo>
                    <a:pt x="1058825" y="1058825"/>
                  </a:lnTo>
                  <a:lnTo>
                    <a:pt x="0" y="1058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82939" y="2633218"/>
            <a:ext cx="5823955" cy="5832829"/>
          </a:xfrm>
          <a:custGeom>
            <a:avLst/>
            <a:gdLst/>
            <a:ahLst/>
            <a:cxnLst/>
            <a:rect r="r" b="b" t="t" l="l"/>
            <a:pathLst>
              <a:path h="5832829" w="5823955">
                <a:moveTo>
                  <a:pt x="0" y="0"/>
                </a:moveTo>
                <a:lnTo>
                  <a:pt x="5823954" y="0"/>
                </a:lnTo>
                <a:lnTo>
                  <a:pt x="5823954" y="5832830"/>
                </a:lnTo>
                <a:lnTo>
                  <a:pt x="0" y="5832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37" t="-10564" r="-16823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76180" y="2633218"/>
            <a:ext cx="9115254" cy="6625082"/>
          </a:xfrm>
          <a:custGeom>
            <a:avLst/>
            <a:gdLst/>
            <a:ahLst/>
            <a:cxnLst/>
            <a:rect r="r" b="b" t="t" l="l"/>
            <a:pathLst>
              <a:path h="6625082" w="9115254">
                <a:moveTo>
                  <a:pt x="0" y="0"/>
                </a:moveTo>
                <a:lnTo>
                  <a:pt x="9115254" y="0"/>
                </a:lnTo>
                <a:lnTo>
                  <a:pt x="9115254" y="6625082"/>
                </a:lnTo>
                <a:lnTo>
                  <a:pt x="0" y="6625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50" t="0" r="-105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104900"/>
            <a:ext cx="6847480" cy="152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WEBSITE SCREENSHOTS: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DAHNByoxiDQ</dc:identifier>
  <dcterms:modified xsi:type="dcterms:W3CDTF">2011-08-01T06:04:30Z</dcterms:modified>
  <cp:revision>1</cp:revision>
  <dc:title>Dashboard</dc:title>
</cp:coreProperties>
</file>